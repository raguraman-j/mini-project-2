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4630400" cy="8229600"/>
  <p:notesSz cx="8229600" cy="14630400"/>
  <p:defaultTextStyle>
    <a:defPPr lvl="0"/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476501" y="2042160"/>
            <a:ext cx="11054080" cy="1299210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476501" y="3512820"/>
            <a:ext cx="11061699" cy="210312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31520" y="7494270"/>
            <a:ext cx="3413760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998720" y="7494270"/>
            <a:ext cx="4632960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485120" y="7494270"/>
            <a:ext cx="3413760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EB2F9E-C9E0-4EA3-A9E2-0DF5F691060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1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1" y="5507356"/>
            <a:ext cx="12618720" cy="1800224"/>
          </a:xfrm>
        </p:spPr>
        <p:txBody>
          <a:bodyPr/>
          <a:lstStyle>
            <a:lvl1pPr marL="0" indent="0">
              <a:buNone/>
              <a:defRPr sz="2880"/>
            </a:lvl1pPr>
            <a:lvl2pPr marL="548640" indent="0">
              <a:buNone/>
              <a:defRPr sz="2400"/>
            </a:lvl2pPr>
            <a:lvl3pPr marL="1097280" indent="0">
              <a:buNone/>
              <a:defRPr sz="216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1409700"/>
            <a:ext cx="6461760" cy="5943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7120" y="1409700"/>
            <a:ext cx="6461760" cy="5943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381" y="438150"/>
            <a:ext cx="12618720" cy="159067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8381" y="2017396"/>
            <a:ext cx="6189979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8381" y="3006090"/>
            <a:ext cx="6189979" cy="44215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20461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20461" cy="44215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381" y="548640"/>
            <a:ext cx="4719320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0461" y="1184910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8381" y="2468880"/>
            <a:ext cx="4719320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381" y="548640"/>
            <a:ext cx="4719320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220461" y="1184910"/>
            <a:ext cx="7406640" cy="584835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8381" y="2468880"/>
            <a:ext cx="4719320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607040" y="228600"/>
            <a:ext cx="3291840" cy="71247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520" y="228600"/>
            <a:ext cx="9631680" cy="71247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10160" y="0"/>
            <a:ext cx="14640560" cy="822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731520" y="228600"/>
            <a:ext cx="13167360" cy="699136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731520" y="1409700"/>
            <a:ext cx="13167360" cy="5943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31520" y="7494270"/>
            <a:ext cx="341376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68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998720" y="7494270"/>
            <a:ext cx="463296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68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485120" y="7494270"/>
            <a:ext cx="341376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68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432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411480" indent="-411480" algn="l" rtl="0" fontAlgn="base">
        <a:spcBef>
          <a:spcPct val="24000"/>
        </a:spcBef>
        <a:spcAft>
          <a:spcPct val="0"/>
        </a:spcAft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1pPr>
      <a:lvl2pPr marL="891540" indent="-342900" algn="l" rtl="0" fontAlgn="base">
        <a:spcBef>
          <a:spcPct val="24000"/>
        </a:spcBef>
        <a:spcAft>
          <a:spcPct val="0"/>
        </a:spcAft>
        <a:buChar char="–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rtl="0" fontAlgn="base">
        <a:spcBef>
          <a:spcPct val="24000"/>
        </a:spcBef>
        <a:spcAft>
          <a:spcPct val="0"/>
        </a:spcAft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rtl="0" fontAlgn="base">
        <a:spcBef>
          <a:spcPct val="24000"/>
        </a:spcBef>
        <a:spcAft>
          <a:spcPct val="0"/>
        </a:spcAft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rtl="0" fontAlgn="base">
        <a:spcBef>
          <a:spcPct val="24000"/>
        </a:spcBef>
        <a:spcAft>
          <a:spcPct val="0"/>
        </a:spcAft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58295" y="4347289"/>
            <a:ext cx="8407598" cy="14885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endParaRPr lang="en-US" sz="4650" dirty="0">
              <a:solidFill>
                <a:srgbClr val="020202"/>
              </a:solidFill>
              <a:latin typeface="Times New Roman" panose="02020603050405020304" charset="0"/>
              <a:ea typeface="PT Serif" panose="020A0703040505020204" pitchFamily="34" charset="-122"/>
              <a:cs typeface="Times New Roman" panose="0202060305040502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92190" y="3156664"/>
            <a:ext cx="13042821" cy="11908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Times New Roman" panose="02020603050405020304" charset="0"/>
                <a:ea typeface="PT Serif" panose="020A0703040505020204" pitchFamily="34" charset="-122"/>
                <a:cs typeface="Times New Roman" panose="02020603050405020304" charset="0"/>
              </a:rPr>
              <a:t>A Web-Based Optimization Platform for Higher Education Institutions</a:t>
            </a:r>
            <a:endParaRPr lang="en-US" sz="3750" dirty="0">
              <a:solidFill>
                <a:srgbClr val="020202"/>
              </a:solidFill>
              <a:latin typeface="Times New Roman" panose="02020603050405020304" charset="0"/>
              <a:ea typeface="PT Serif" panose="020A0703040505020204" pitchFamily="34" charset="-122"/>
              <a:cs typeface="Times New Roman" panose="020206030504050203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21070" y="4918829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IN" altLang="en-US" sz="17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- </a:t>
            </a:r>
            <a:r>
              <a:rPr lang="en-US" sz="17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An NEP 2020–Aligned Solution for Multi-Department Academic Scheduling</a:t>
            </a:r>
            <a:endParaRPr lang="en-US" sz="175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pic>
        <p:nvPicPr>
          <p:cNvPr id="5" name="Picture 4" descr="Gemini_Generated_Image_f90a6f90a6f90a6f"/>
          <p:cNvPicPr>
            <a:picLocks noChangeAspect="1"/>
          </p:cNvPicPr>
          <p:nvPr/>
        </p:nvPicPr>
        <p:blipFill>
          <a:blip r:embed="rId1"/>
          <a:srcRect l="5116" t="13557" r="4582" b="18750"/>
          <a:stretch>
            <a:fillRect/>
          </a:stretch>
        </p:blipFill>
        <p:spPr>
          <a:xfrm>
            <a:off x="13672185" y="7060565"/>
            <a:ext cx="821055" cy="947420"/>
          </a:xfrm>
          <a:prstGeom prst="rect">
            <a:avLst/>
          </a:prstGeom>
        </p:spPr>
      </p:pic>
      <p:sp>
        <p:nvSpPr>
          <p:cNvPr id="11" name="Shape 9"/>
          <p:cNvSpPr/>
          <p:nvPr/>
        </p:nvSpPr>
        <p:spPr>
          <a:xfrm>
            <a:off x="513715" y="506095"/>
            <a:ext cx="10993755" cy="1467485"/>
          </a:xfrm>
          <a:prstGeom prst="roundRect">
            <a:avLst>
              <a:gd name="adj" fmla="val 2565"/>
            </a:avLst>
          </a:prstGeom>
          <a:solidFill>
            <a:srgbClr val="FFCDB3"/>
          </a:solidFill>
        </p:spPr>
      </p:sp>
      <p:sp>
        <p:nvSpPr>
          <p:cNvPr id="9" name="Text Box 8"/>
          <p:cNvSpPr txBox="1"/>
          <p:nvPr/>
        </p:nvSpPr>
        <p:spPr>
          <a:xfrm>
            <a:off x="608330" y="746125"/>
            <a:ext cx="10649585" cy="1043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 algn="l">
              <a:lnSpc>
                <a:spcPts val="5850"/>
              </a:lnSpc>
              <a:buNone/>
            </a:pPr>
            <a:r>
              <a:rPr lang="en-IN" altLang="en-US" sz="3600" dirty="0">
                <a:solidFill>
                  <a:srgbClr val="020202"/>
                </a:solidFill>
                <a:latin typeface="Times New Roman" panose="02020603050405020304" charset="0"/>
                <a:ea typeface="PT Serif" panose="020A0703040505020204" pitchFamily="3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en-IN" sz="3600" dirty="0">
                <a:solidFill>
                  <a:srgbClr val="020202"/>
                </a:solidFill>
                <a:latin typeface="Times New Roman" panose="02020603050405020304" charset="0"/>
                <a:ea typeface="PT Serif" panose="020A0703040505020204" pitchFamily="34" charset="-122"/>
                <a:cs typeface="Times New Roman" panose="02020603050405020304" charset="0"/>
                <a:sym typeface="+mn-ea"/>
              </a:rPr>
              <a:t>Smart</a:t>
            </a:r>
            <a:r>
              <a:rPr lang="en-US" sz="3600" dirty="0">
                <a:solidFill>
                  <a:srgbClr val="020202"/>
                </a:solidFill>
                <a:latin typeface="Times New Roman" panose="02020603050405020304" charset="0"/>
                <a:ea typeface="PT Serif" panose="020A0703040505020204" pitchFamily="34" charset="-122"/>
                <a:cs typeface="Times New Roman" panose="02020603050405020304" charset="0"/>
                <a:sym typeface="+mn-ea"/>
              </a:rPr>
              <a:t> Timetable Schedule</a:t>
            </a:r>
            <a:r>
              <a:rPr lang="en-IN" altLang="en-US" sz="3600" dirty="0">
                <a:solidFill>
                  <a:srgbClr val="020202"/>
                </a:solidFill>
                <a:latin typeface="Times New Roman" panose="02020603050405020304" charset="0"/>
                <a:ea typeface="PT Serif" panose="020A0703040505020204" pitchFamily="34" charset="-122"/>
                <a:cs typeface="Times New Roman" panose="02020603050405020304" charset="0"/>
                <a:sym typeface="+mn-ea"/>
              </a:rPr>
              <a:t>r</a:t>
            </a:r>
            <a:endParaRPr lang="en-IN" altLang="en-US" sz="3600" dirty="0">
              <a:solidFill>
                <a:srgbClr val="020202"/>
              </a:solidFill>
              <a:latin typeface="Times New Roman" panose="02020603050405020304" charset="0"/>
              <a:ea typeface="PT Serif" panose="020A0703040505020204" pitchFamily="34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1049" y="786289"/>
            <a:ext cx="4086106" cy="414099"/>
          </a:xfrm>
          <a:prstGeom prst="roundRect">
            <a:avLst>
              <a:gd name="adj" fmla="val 6384"/>
            </a:avLst>
          </a:prstGeom>
          <a:solidFill>
            <a:srgbClr val="FFDECC"/>
          </a:solidFill>
        </p:spPr>
      </p:sp>
      <p:sp>
        <p:nvSpPr>
          <p:cNvPr id="3" name="Text 1"/>
          <p:cNvSpPr/>
          <p:nvPr/>
        </p:nvSpPr>
        <p:spPr>
          <a:xfrm>
            <a:off x="903208" y="852368"/>
            <a:ext cx="3821787" cy="2819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SMART CLASSROOM &amp; TIMETABLE SCHEDULER</a:t>
            </a:r>
            <a:endParaRPr lang="en-US" sz="135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1049" y="1288494"/>
            <a:ext cx="4626293" cy="5782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00" dirty="0">
                <a:solidFill>
                  <a:srgbClr val="020202"/>
                </a:solidFill>
                <a:latin typeface="Times New Roman" panose="02020603050405020304" charset="0"/>
                <a:ea typeface="PT Serif" panose="020A0703040505020204" pitchFamily="34" charset="-122"/>
                <a:cs typeface="Times New Roman" panose="02020603050405020304" charset="0"/>
              </a:rPr>
              <a:t>Problem Statement</a:t>
            </a:r>
            <a:endParaRPr lang="en-US" sz="3600" dirty="0">
              <a:solidFill>
                <a:srgbClr val="020202"/>
              </a:solidFill>
              <a:latin typeface="Times New Roman" panose="02020603050405020304" charset="0"/>
              <a:ea typeface="PT Serif" panose="020A0703040505020204" pitchFamily="34" charset="-122"/>
              <a:cs typeface="Times New Roman" panose="020206030504050203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1049" y="2197179"/>
            <a:ext cx="13088303" cy="3524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Higher education institutions face increasing complexity in timetable creation.</a:t>
            </a:r>
            <a:endParaRPr lang="en-US" sz="170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71049" y="2797373"/>
            <a:ext cx="4215884" cy="4045625"/>
          </a:xfrm>
          <a:prstGeom prst="roundRect">
            <a:avLst>
              <a:gd name="adj" fmla="val 361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0569" y="2797373"/>
            <a:ext cx="121920" cy="4045625"/>
          </a:xfrm>
          <a:prstGeom prst="roundRect">
            <a:avLst>
              <a:gd name="adj" fmla="val 27104"/>
            </a:avLst>
          </a:prstGeom>
          <a:solidFill>
            <a:srgbClr val="E04F00"/>
          </a:solidFill>
        </p:spPr>
      </p:sp>
      <p:sp>
        <p:nvSpPr>
          <p:cNvPr id="8" name="Text 6"/>
          <p:cNvSpPr/>
          <p:nvPr/>
        </p:nvSpPr>
        <p:spPr>
          <a:xfrm>
            <a:off x="1113234" y="3048119"/>
            <a:ext cx="3602950" cy="3614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Times New Roman" panose="02020603050405020304" charset="0"/>
                <a:ea typeface="PT Serif" panose="020A0703040505020204" pitchFamily="34" charset="-122"/>
                <a:cs typeface="Times New Roman" panose="02020603050405020304" charset="0"/>
              </a:rPr>
              <a:t>Manual scheduling leads to:</a:t>
            </a:r>
            <a:endParaRPr lang="en-US" sz="2250" dirty="0">
              <a:solidFill>
                <a:srgbClr val="383838"/>
              </a:solidFill>
              <a:latin typeface="Times New Roman" panose="02020603050405020304" charset="0"/>
              <a:ea typeface="PT Serif" panose="020A0703040505020204" pitchFamily="34" charset="-122"/>
              <a:cs typeface="Times New Roman" panose="020206030504050203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13234" y="3541752"/>
            <a:ext cx="3622953" cy="7048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Class clashes and overlapping sessions</a:t>
            </a:r>
            <a:endParaRPr lang="en-US" sz="170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13234" y="4323636"/>
            <a:ext cx="3622953" cy="7048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Underutilization of classrooms and laboratories</a:t>
            </a:r>
            <a:endParaRPr lang="en-US" sz="170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13234" y="5105519"/>
            <a:ext cx="3622953" cy="7048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Uneven faculty workload distribution</a:t>
            </a:r>
            <a:endParaRPr lang="en-US" sz="170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13234" y="5887403"/>
            <a:ext cx="3622953" cy="7048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Student dissatisfaction due to rigid schedules</a:t>
            </a:r>
            <a:endParaRPr lang="en-US" sz="170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207198" y="2797373"/>
            <a:ext cx="4215884" cy="4045625"/>
          </a:xfrm>
          <a:prstGeom prst="roundRect">
            <a:avLst>
              <a:gd name="adj" fmla="val 361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76718" y="2797373"/>
            <a:ext cx="121920" cy="4045625"/>
          </a:xfrm>
          <a:prstGeom prst="roundRect">
            <a:avLst>
              <a:gd name="adj" fmla="val 27104"/>
            </a:avLst>
          </a:prstGeom>
          <a:solidFill>
            <a:srgbClr val="E04F00"/>
          </a:solidFill>
        </p:spPr>
      </p:sp>
      <p:sp>
        <p:nvSpPr>
          <p:cNvPr id="15" name="Text 13"/>
          <p:cNvSpPr/>
          <p:nvPr/>
        </p:nvSpPr>
        <p:spPr>
          <a:xfrm>
            <a:off x="5549384" y="3048119"/>
            <a:ext cx="2891433" cy="3614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Times New Roman" panose="02020603050405020304" charset="0"/>
                <a:ea typeface="PT Serif" panose="020A0703040505020204" pitchFamily="34" charset="-122"/>
                <a:cs typeface="Times New Roman" panose="02020603050405020304" charset="0"/>
              </a:rPr>
              <a:t>NEP 2020 introduces:</a:t>
            </a:r>
            <a:endParaRPr lang="en-US" sz="2250" dirty="0">
              <a:solidFill>
                <a:srgbClr val="383838"/>
              </a:solidFill>
              <a:latin typeface="Times New Roman" panose="02020603050405020304" charset="0"/>
              <a:ea typeface="PT Serif" panose="020A0703040505020204" pitchFamily="34" charset="-122"/>
              <a:cs typeface="Times New Roman" panose="0202060305040502030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549384" y="3541752"/>
            <a:ext cx="3622953" cy="3524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Multidisciplinary courses</a:t>
            </a:r>
            <a:endParaRPr lang="en-US" sz="170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549384" y="3971211"/>
            <a:ext cx="3622953" cy="3524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Flexible learning paths</a:t>
            </a:r>
            <a:endParaRPr lang="en-US" sz="170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549384" y="4400669"/>
            <a:ext cx="3622953" cy="3524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Elective-heavy curricula</a:t>
            </a:r>
            <a:endParaRPr lang="en-US" sz="170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643348" y="2797373"/>
            <a:ext cx="4215884" cy="4045625"/>
          </a:xfrm>
          <a:prstGeom prst="roundRect">
            <a:avLst>
              <a:gd name="adj" fmla="val 361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12868" y="2797373"/>
            <a:ext cx="121920" cy="4045625"/>
          </a:xfrm>
          <a:prstGeom prst="roundRect">
            <a:avLst>
              <a:gd name="adj" fmla="val 27104"/>
            </a:avLst>
          </a:prstGeom>
          <a:solidFill>
            <a:srgbClr val="E04F00"/>
          </a:solidFill>
        </p:spPr>
      </p:sp>
      <p:sp>
        <p:nvSpPr>
          <p:cNvPr id="21" name="Text 19"/>
          <p:cNvSpPr/>
          <p:nvPr/>
        </p:nvSpPr>
        <p:spPr>
          <a:xfrm>
            <a:off x="9985534" y="3048119"/>
            <a:ext cx="3622953" cy="10844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383838"/>
                </a:solidFill>
                <a:latin typeface="Times New Roman" panose="02020603050405020304" charset="0"/>
                <a:ea typeface="PT Serif" panose="020A0703040505020204" pitchFamily="34" charset="-122"/>
                <a:cs typeface="Times New Roman" panose="02020603050405020304" charset="0"/>
              </a:rPr>
              <a:t>Existing tools (spreadsheets/basic software) fail to:</a:t>
            </a:r>
            <a:endParaRPr lang="en-US" sz="2250" dirty="0">
              <a:solidFill>
                <a:srgbClr val="383838"/>
              </a:solidFill>
              <a:latin typeface="Times New Roman" panose="02020603050405020304" charset="0"/>
              <a:ea typeface="PT Serif" panose="020A0703040505020204" pitchFamily="34" charset="-122"/>
              <a:cs typeface="Times New Roman" panose="0202060305040502030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985534" y="4264700"/>
            <a:ext cx="3622953" cy="7048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Handle real-time faculty availability</a:t>
            </a:r>
            <a:endParaRPr lang="en-US" sz="170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985534" y="5046583"/>
            <a:ext cx="3622953" cy="7048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Manage multi-department and multi-shift constraints</a:t>
            </a:r>
            <a:endParaRPr lang="en-US" sz="170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985534" y="5828467"/>
            <a:ext cx="3622953" cy="3524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Adapt dynamically to changes</a:t>
            </a:r>
            <a:endParaRPr lang="en-US" sz="170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71049" y="7090767"/>
            <a:ext cx="13088303" cy="3524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→ Hence, an intelligent, automated, and scalable scheduling solution is required</a:t>
            </a:r>
            <a:endParaRPr lang="en-US" sz="170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pic>
        <p:nvPicPr>
          <p:cNvPr id="27" name="Picture 26" descr="Gemini_Generated_Image_f90a6f90a6f90a6f"/>
          <p:cNvPicPr>
            <a:picLocks noChangeAspect="1"/>
          </p:cNvPicPr>
          <p:nvPr/>
        </p:nvPicPr>
        <p:blipFill>
          <a:blip r:embed="rId1"/>
          <a:srcRect l="5116" t="13557" r="4582" b="18750"/>
          <a:stretch>
            <a:fillRect/>
          </a:stretch>
        </p:blipFill>
        <p:spPr>
          <a:xfrm>
            <a:off x="13672185" y="7060565"/>
            <a:ext cx="821055" cy="9474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4027"/>
            <a:ext cx="4763333" cy="595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Times New Roman" panose="02020603050405020304" charset="0"/>
                <a:ea typeface="PT Serif" panose="020A0703040505020204" pitchFamily="34" charset="-122"/>
                <a:cs typeface="Times New Roman" panose="02020603050405020304" charset="0"/>
              </a:rPr>
              <a:t>Proposed Solution</a:t>
            </a:r>
            <a:endParaRPr lang="en-US" sz="3750" dirty="0">
              <a:solidFill>
                <a:srgbClr val="020202"/>
              </a:solidFill>
              <a:latin typeface="Times New Roman" panose="02020603050405020304" charset="0"/>
              <a:ea typeface="PT Serif" panose="020A0703040505020204" pitchFamily="34" charset="-122"/>
              <a:cs typeface="Times New Roman" panose="0202060305040502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470184"/>
            <a:ext cx="11318677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Times New Roman" panose="02020603050405020304" charset="0"/>
                <a:ea typeface="PT Serif" panose="020A0703040505020204" pitchFamily="34" charset="-122"/>
                <a:cs typeface="Times New Roman" panose="02020603050405020304" charset="0"/>
              </a:rPr>
              <a:t>Web-Based Smart Timetable Scheduling Platform</a:t>
            </a:r>
            <a:r>
              <a:rPr lang="en-IN" altLang="en-US" sz="2300" dirty="0">
                <a:solidFill>
                  <a:srgbClr val="020202"/>
                </a:solidFill>
                <a:latin typeface="Times New Roman" panose="02020603050405020304" charset="0"/>
                <a:ea typeface="PT Serif" panose="020A0703040505020204" pitchFamily="34" charset="-122"/>
                <a:cs typeface="Times New Roman" panose="02020603050405020304" charset="0"/>
              </a:rPr>
              <a:t>:</a:t>
            </a:r>
            <a:endParaRPr lang="en-IN" altLang="en-US" sz="2300" dirty="0">
              <a:solidFill>
                <a:srgbClr val="020202"/>
              </a:solidFill>
              <a:latin typeface="Times New Roman" panose="02020603050405020304" charset="0"/>
              <a:ea typeface="PT Serif" panose="020A0703040505020204" pitchFamily="34" charset="-122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2182416"/>
            <a:ext cx="6407944" cy="2209086"/>
          </a:xfrm>
          <a:prstGeom prst="roundRect">
            <a:avLst>
              <a:gd name="adj" fmla="val 1540"/>
            </a:avLst>
          </a:prstGeom>
          <a:solidFill>
            <a:srgbClr val="F2EEEE"/>
          </a:solidFill>
        </p:spPr>
      </p:sp>
      <p:sp>
        <p:nvSpPr>
          <p:cNvPr id="5" name="Text 3"/>
          <p:cNvSpPr/>
          <p:nvPr/>
        </p:nvSpPr>
        <p:spPr>
          <a:xfrm>
            <a:off x="1020604" y="2409230"/>
            <a:ext cx="3313747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Times New Roman" panose="02020603050405020304" charset="0"/>
                <a:ea typeface="PT Serif" panose="020A0703040505020204" pitchFamily="34" charset="-122"/>
                <a:cs typeface="Times New Roman" panose="02020603050405020304" charset="0"/>
              </a:rPr>
              <a:t>Role-based login system:</a:t>
            </a:r>
            <a:endParaRPr lang="en-US" sz="2300" dirty="0">
              <a:solidFill>
                <a:srgbClr val="383838"/>
              </a:solidFill>
              <a:latin typeface="Times New Roman" panose="02020603050405020304" charset="0"/>
              <a:ea typeface="PT Serif" panose="020A0703040505020204" pitchFamily="34" charset="-122"/>
              <a:cs typeface="Times New Roman" panose="020206030504050203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20604" y="2917388"/>
            <a:ext cx="595431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Admin</a:t>
            </a:r>
            <a:endParaRPr lang="en-US" sz="175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20604" y="3359587"/>
            <a:ext cx="595431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Faculty</a:t>
            </a:r>
            <a:endParaRPr lang="en-US" sz="175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20604" y="3801785"/>
            <a:ext cx="595431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Student</a:t>
            </a:r>
            <a:endParaRPr lang="en-US" sz="175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428548" y="2182416"/>
            <a:ext cx="6408063" cy="2209086"/>
          </a:xfrm>
          <a:prstGeom prst="roundRect">
            <a:avLst>
              <a:gd name="adj" fmla="val 1540"/>
            </a:avLst>
          </a:prstGeom>
          <a:solidFill>
            <a:srgbClr val="F2EEEE"/>
          </a:solidFill>
        </p:spPr>
      </p:sp>
      <p:sp>
        <p:nvSpPr>
          <p:cNvPr id="10" name="Text 8"/>
          <p:cNvSpPr/>
          <p:nvPr/>
        </p:nvSpPr>
        <p:spPr>
          <a:xfrm>
            <a:off x="7655362" y="2409230"/>
            <a:ext cx="5954435" cy="7441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Times New Roman" panose="02020603050405020304" charset="0"/>
                <a:ea typeface="PT Serif" panose="020A0703040505020204" pitchFamily="34" charset="-122"/>
                <a:cs typeface="Times New Roman" panose="02020603050405020304" charset="0"/>
              </a:rPr>
              <a:t>Centralized data input and management system</a:t>
            </a:r>
            <a:endParaRPr lang="en-US" sz="2300" dirty="0">
              <a:solidFill>
                <a:srgbClr val="383838"/>
              </a:solidFill>
              <a:latin typeface="Times New Roman" panose="02020603050405020304" charset="0"/>
              <a:ea typeface="PT Serif" panose="020A0703040505020204" pitchFamily="34" charset="-122"/>
              <a:cs typeface="Times New Roman" panose="020206030504050203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655362" y="3244096"/>
            <a:ext cx="5954435" cy="7441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Times New Roman" panose="02020603050405020304" charset="0"/>
                <a:ea typeface="PT Serif" panose="020A0703040505020204" pitchFamily="34" charset="-122"/>
                <a:cs typeface="Times New Roman" panose="02020603050405020304" charset="0"/>
              </a:rPr>
              <a:t>Automated timetable generation using predefined constraints</a:t>
            </a:r>
            <a:endParaRPr lang="en-US" sz="2300" dirty="0">
              <a:solidFill>
                <a:srgbClr val="383838"/>
              </a:solidFill>
              <a:latin typeface="Times New Roman" panose="02020603050405020304" charset="0"/>
              <a:ea typeface="PT Serif" panose="020A0703040505020204" pitchFamily="34" charset="-122"/>
              <a:cs typeface="Times New Roman" panose="0202060305040502030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790" y="4618315"/>
            <a:ext cx="6407944" cy="2209086"/>
          </a:xfrm>
          <a:prstGeom prst="roundRect">
            <a:avLst>
              <a:gd name="adj" fmla="val 1540"/>
            </a:avLst>
          </a:prstGeom>
          <a:solidFill>
            <a:srgbClr val="F2EEEE"/>
          </a:solidFill>
        </p:spPr>
      </p:sp>
      <p:sp>
        <p:nvSpPr>
          <p:cNvPr id="13" name="Text 11"/>
          <p:cNvSpPr/>
          <p:nvPr/>
        </p:nvSpPr>
        <p:spPr>
          <a:xfrm>
            <a:off x="1020604" y="4845129"/>
            <a:ext cx="2977039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Times New Roman" panose="02020603050405020304" charset="0"/>
                <a:ea typeface="PT Serif" panose="020A0703040505020204" pitchFamily="34" charset="-122"/>
                <a:cs typeface="Times New Roman" panose="02020603050405020304" charset="0"/>
              </a:rPr>
              <a:t>Dashboards for:</a:t>
            </a:r>
            <a:endParaRPr lang="en-US" sz="2300" dirty="0">
              <a:solidFill>
                <a:srgbClr val="383838"/>
              </a:solidFill>
              <a:latin typeface="Times New Roman" panose="02020603050405020304" charset="0"/>
              <a:ea typeface="PT Serif" panose="020A0703040505020204" pitchFamily="34" charset="-122"/>
              <a:cs typeface="Times New Roman" panose="0202060305040502030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20604" y="5353288"/>
            <a:ext cx="595431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Admin (full control &amp; scheduling)</a:t>
            </a:r>
            <a:endParaRPr lang="en-US" sz="175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20604" y="5795486"/>
            <a:ext cx="595431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Faculty (view workload &amp; schedules)</a:t>
            </a:r>
            <a:endParaRPr lang="en-US" sz="175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20604" y="6237684"/>
            <a:ext cx="595431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Students (access class timetable)</a:t>
            </a:r>
            <a:endParaRPr lang="en-US" sz="175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428548" y="4618315"/>
            <a:ext cx="6408063" cy="2209086"/>
          </a:xfrm>
          <a:prstGeom prst="roundRect">
            <a:avLst>
              <a:gd name="adj" fmla="val 1540"/>
            </a:avLst>
          </a:prstGeom>
          <a:solidFill>
            <a:srgbClr val="F2EEEE"/>
          </a:solidFill>
        </p:spPr>
      </p:sp>
      <p:sp>
        <p:nvSpPr>
          <p:cNvPr id="18" name="Text 16"/>
          <p:cNvSpPr/>
          <p:nvPr/>
        </p:nvSpPr>
        <p:spPr>
          <a:xfrm>
            <a:off x="7655362" y="4845129"/>
            <a:ext cx="4943356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Times New Roman" panose="02020603050405020304" charset="0"/>
                <a:ea typeface="PT Serif" panose="020A0703040505020204" pitchFamily="34" charset="-122"/>
                <a:cs typeface="Times New Roman" panose="02020603050405020304" charset="0"/>
              </a:rPr>
              <a:t>Multiple optimized timetable options</a:t>
            </a:r>
            <a:endParaRPr lang="en-US" sz="2300" dirty="0">
              <a:solidFill>
                <a:srgbClr val="383838"/>
              </a:solidFill>
              <a:latin typeface="Times New Roman" panose="02020603050405020304" charset="0"/>
              <a:ea typeface="PT Serif" panose="020A0703040505020204" pitchFamily="34" charset="-122"/>
              <a:cs typeface="Times New Roman" panose="0202060305040502030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655362" y="5307925"/>
            <a:ext cx="5365194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Times New Roman" panose="02020603050405020304" charset="0"/>
                <a:ea typeface="PT Serif" panose="020A0703040505020204" pitchFamily="34" charset="-122"/>
                <a:cs typeface="Times New Roman" panose="02020603050405020304" charset="0"/>
              </a:rPr>
              <a:t>Secure authentication and authorization</a:t>
            </a:r>
            <a:endParaRPr lang="en-US" sz="2300" dirty="0">
              <a:solidFill>
                <a:srgbClr val="383838"/>
              </a:solidFill>
              <a:latin typeface="Times New Roman" panose="02020603050405020304" charset="0"/>
              <a:ea typeface="PT Serif" panose="020A0703040505020204" pitchFamily="34" charset="-122"/>
              <a:cs typeface="Times New Roman" panose="0202060305040502030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55362" y="5770721"/>
            <a:ext cx="5954435" cy="7441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Times New Roman" panose="02020603050405020304" charset="0"/>
                <a:ea typeface="PT Serif" panose="020A0703040505020204" pitchFamily="34" charset="-122"/>
                <a:cs typeface="Times New Roman" panose="02020603050405020304" charset="0"/>
              </a:rPr>
              <a:t>Scalable frontend built using modern web technologies</a:t>
            </a:r>
            <a:endParaRPr lang="en-US" sz="2300" dirty="0">
              <a:solidFill>
                <a:srgbClr val="383838"/>
              </a:solidFill>
              <a:latin typeface="Times New Roman" panose="02020603050405020304" charset="0"/>
              <a:ea typeface="PT Serif" panose="020A0703040505020204" pitchFamily="34" charset="-122"/>
              <a:cs typeface="Times New Roman" panose="0202060305040502030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93790" y="7082552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→ Fully replaces manual and error-prone scheduling methods</a:t>
            </a:r>
            <a:endParaRPr lang="en-US" sz="175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pic>
        <p:nvPicPr>
          <p:cNvPr id="23" name="Picture 22" descr="Gemini_Generated_Image_f90a6f90a6f90a6f"/>
          <p:cNvPicPr>
            <a:picLocks noChangeAspect="1"/>
          </p:cNvPicPr>
          <p:nvPr/>
        </p:nvPicPr>
        <p:blipFill>
          <a:blip r:embed="rId1"/>
          <a:srcRect l="5116" t="13557" r="4582" b="18750"/>
          <a:stretch>
            <a:fillRect/>
          </a:stretch>
        </p:blipFill>
        <p:spPr>
          <a:xfrm>
            <a:off x="13672185" y="7060565"/>
            <a:ext cx="821055" cy="9474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1872"/>
            <a:ext cx="5782628" cy="595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Times New Roman" panose="02020603050405020304" charset="0"/>
                <a:ea typeface="PT Serif" panose="020A0703040505020204" pitchFamily="34" charset="-122"/>
                <a:cs typeface="Times New Roman" panose="02020603050405020304" charset="0"/>
              </a:rPr>
              <a:t>Scheduling Algorithm Used</a:t>
            </a:r>
            <a:endParaRPr lang="en-US" sz="3750" dirty="0">
              <a:solidFill>
                <a:srgbClr val="020202"/>
              </a:solidFill>
              <a:latin typeface="Times New Roman" panose="02020603050405020304" charset="0"/>
              <a:ea typeface="PT Serif" panose="020A0703040505020204" pitchFamily="34" charset="-122"/>
              <a:cs typeface="Times New Roman" panose="0202060305040502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378029"/>
            <a:ext cx="8453318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Times New Roman" panose="02020603050405020304" charset="0"/>
                <a:ea typeface="PT Serif" panose="020A0703040505020204" pitchFamily="34" charset="-122"/>
                <a:cs typeface="Times New Roman" panose="02020603050405020304" charset="0"/>
              </a:rPr>
              <a:t>Rule-Based Heuristic &amp; Constraint-Based Scheduling Algorithm</a:t>
            </a:r>
            <a:endParaRPr lang="en-US" sz="2300" dirty="0">
              <a:solidFill>
                <a:srgbClr val="020202"/>
              </a:solidFill>
              <a:latin typeface="Times New Roman" panose="02020603050405020304" charset="0"/>
              <a:ea typeface="PT Serif" panose="020A0703040505020204" pitchFamily="34" charset="-122"/>
              <a:cs typeface="Times New Roman" panose="020206030504050203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090261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The system uses a rule-based heuristic algorithm to generate timetables.</a:t>
            </a:r>
            <a:endParaRPr lang="en-US" sz="175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2708315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Scheduling is performed by applying predefined academic constraints without machine learning.</a:t>
            </a:r>
            <a:endParaRPr lang="en-US" sz="175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3326368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Hard constraints such as faculty availability, room occupancy, fixed slots, and workload limits are strictly enforced.</a:t>
            </a:r>
            <a:endParaRPr lang="en-US" sz="175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33951" y="4284583"/>
            <a:ext cx="3572470" cy="4466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Times New Roman" panose="02020603050405020304" charset="0"/>
                <a:ea typeface="PT Serif" panose="020A0703040505020204" pitchFamily="34" charset="-122"/>
                <a:cs typeface="Times New Roman" panose="02020603050405020304" charset="0"/>
              </a:rPr>
              <a:t>Outcome:</a:t>
            </a:r>
            <a:endParaRPr lang="en-US" sz="2800" dirty="0">
              <a:solidFill>
                <a:srgbClr val="020202"/>
              </a:solidFill>
              <a:latin typeface="Times New Roman" panose="02020603050405020304" charset="0"/>
              <a:ea typeface="PT Serif" panose="020A0703040505020204" pitchFamily="34" charset="-122"/>
              <a:cs typeface="Times New Roman" panose="020206030504050203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33951" y="5071348"/>
            <a:ext cx="1270265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Fast and conflict-free timetable generation</a:t>
            </a:r>
            <a:endParaRPr lang="en-US" sz="175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33951" y="5513546"/>
            <a:ext cx="1270265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Transparent and predictable scheduling behavior</a:t>
            </a:r>
            <a:endParaRPr lang="en-US" sz="175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93790" y="3944422"/>
            <a:ext cx="30480" cy="2011323"/>
          </a:xfrm>
          <a:prstGeom prst="rect">
            <a:avLst/>
          </a:prstGeom>
          <a:solidFill>
            <a:srgbClr val="E04F00"/>
          </a:solidFill>
        </p:spPr>
      </p:sp>
      <p:sp>
        <p:nvSpPr>
          <p:cNvPr id="11" name="Shape 9"/>
          <p:cNvSpPr/>
          <p:nvPr/>
        </p:nvSpPr>
        <p:spPr>
          <a:xfrm>
            <a:off x="793790" y="6210895"/>
            <a:ext cx="13042821" cy="1326713"/>
          </a:xfrm>
          <a:prstGeom prst="roundRect">
            <a:avLst>
              <a:gd name="adj" fmla="val 2565"/>
            </a:avLst>
          </a:prstGeom>
          <a:solidFill>
            <a:srgbClr val="FFCDB3"/>
          </a:solidFill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604" y="6554986"/>
            <a:ext cx="283488" cy="22681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30906" y="6494383"/>
            <a:ext cx="1207889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Note: Advanced AI techniques like Genetic Algorithms and Machine Learning are proposed as future enhancements.</a:t>
            </a:r>
            <a:endParaRPr lang="en-US" sz="1750" dirty="0">
              <a:solidFill>
                <a:srgbClr val="000000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pic>
        <p:nvPicPr>
          <p:cNvPr id="14" name="Picture 13" descr="Gemini_Generated_Image_f90a6f90a6f90a6f"/>
          <p:cNvPicPr>
            <a:picLocks noChangeAspect="1"/>
          </p:cNvPicPr>
          <p:nvPr/>
        </p:nvPicPr>
        <p:blipFill>
          <a:blip r:embed="rId2"/>
          <a:srcRect l="5116" t="13557" r="4582" b="18750"/>
          <a:stretch>
            <a:fillRect/>
          </a:stretch>
        </p:blipFill>
        <p:spPr>
          <a:xfrm>
            <a:off x="13672185" y="7060565"/>
            <a:ext cx="821055" cy="9474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9485"/>
            <a:ext cx="5803106" cy="5954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Times New Roman" panose="02020603050405020304" charset="0"/>
                <a:ea typeface="PT Serif" panose="020A0703040505020204" pitchFamily="34" charset="-122"/>
                <a:cs typeface="Times New Roman" panose="02020603050405020304" charset="0"/>
              </a:rPr>
              <a:t>Introduction &amp; Advantages</a:t>
            </a:r>
            <a:endParaRPr lang="en-US" sz="3750" dirty="0">
              <a:solidFill>
                <a:srgbClr val="020202"/>
              </a:solidFill>
              <a:latin typeface="Times New Roman" panose="02020603050405020304" charset="0"/>
              <a:ea typeface="PT Serif" panose="020A0703040505020204" pitchFamily="34" charset="-122"/>
              <a:cs typeface="Times New Roman" panose="0202060305040502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325642"/>
            <a:ext cx="3125629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Times New Roman" panose="02020603050405020304" charset="0"/>
                <a:ea typeface="PT Serif" panose="020A0703040505020204" pitchFamily="34" charset="-122"/>
                <a:cs typeface="Times New Roman" panose="02020603050405020304" charset="0"/>
              </a:rPr>
              <a:t>(Developer Perspective)</a:t>
            </a:r>
            <a:endParaRPr lang="en-US" sz="2300" dirty="0">
              <a:solidFill>
                <a:srgbClr val="020202"/>
              </a:solidFill>
              <a:latin typeface="Times New Roman" panose="02020603050405020304" charset="0"/>
              <a:ea typeface="PT Serif" panose="020A0703040505020204" pitchFamily="34" charset="-122"/>
              <a:cs typeface="Times New Roman" panose="020206030504050203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161943"/>
            <a:ext cx="3572470" cy="4466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Times New Roman" panose="02020603050405020304" charset="0"/>
                <a:ea typeface="PT Serif" panose="020A0703040505020204" pitchFamily="34" charset="-122"/>
                <a:cs typeface="Times New Roman" panose="02020603050405020304" charset="0"/>
              </a:rPr>
              <a:t>Introduction</a:t>
            </a:r>
            <a:endParaRPr lang="en-US" sz="2800" dirty="0">
              <a:solidFill>
                <a:srgbClr val="020202"/>
              </a:solidFill>
              <a:latin typeface="Times New Roman" panose="02020603050405020304" charset="0"/>
              <a:ea typeface="PT Serif" panose="020A0703040505020204" pitchFamily="34" charset="-122"/>
              <a:cs typeface="Times New Roman" panose="020206030504050203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3835360"/>
            <a:ext cx="624470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This project transforms traditional timetable preparation into a smart digital workflow</a:t>
            </a:r>
            <a:endParaRPr lang="en-US" sz="175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4640461"/>
            <a:ext cx="624470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Designed specifically for UG and PG academic programs</a:t>
            </a:r>
            <a:endParaRPr lang="en-US" sz="175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5445562"/>
            <a:ext cx="624470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Supports multi-department and multi-role environments</a:t>
            </a:r>
            <a:endParaRPr lang="en-US" sz="175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3790" y="6250662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Aligns with NEP 2020 academic flexibility requirements</a:t>
            </a:r>
            <a:endParaRPr lang="en-US" sz="175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99521" y="3161943"/>
            <a:ext cx="3572470" cy="4466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020202"/>
                </a:solidFill>
                <a:latin typeface="Times New Roman" panose="02020603050405020304" charset="0"/>
                <a:ea typeface="PT Serif" panose="020A0703040505020204" pitchFamily="34" charset="-122"/>
                <a:cs typeface="Times New Roman" panose="02020603050405020304" charset="0"/>
              </a:rPr>
              <a:t>Advantages</a:t>
            </a:r>
            <a:endParaRPr lang="en-US" sz="2800" dirty="0">
              <a:solidFill>
                <a:srgbClr val="020202"/>
              </a:solidFill>
              <a:latin typeface="Times New Roman" panose="02020603050405020304" charset="0"/>
              <a:ea typeface="PT Serif" panose="020A0703040505020204" pitchFamily="34" charset="-122"/>
              <a:cs typeface="Times New Roman" panose="020206030504050203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99521" y="3835360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Reduces scheduling conflicts and manual errors</a:t>
            </a:r>
            <a:endParaRPr lang="en-US" sz="175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599521" y="4277558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Ensures fair workload distribution among faculty</a:t>
            </a:r>
            <a:endParaRPr lang="en-US" sz="175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599521" y="4719757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Improves classroom and laboratory utilization</a:t>
            </a:r>
            <a:endParaRPr lang="en-US" sz="175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599521" y="5161955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Role-based dashboards increase transparency</a:t>
            </a:r>
            <a:endParaRPr lang="en-US" sz="175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599521" y="5604153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Easy scalability for future AI/ML integration</a:t>
            </a:r>
            <a:endParaRPr lang="en-US" sz="175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599521" y="6046351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Enhances academic planning efficiency and reliability</a:t>
            </a:r>
            <a:endParaRPr lang="en-US" sz="175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pic>
        <p:nvPicPr>
          <p:cNvPr id="16" name="Picture 15" descr="Gemini_Generated_Image_f90a6f90a6f90a6f"/>
          <p:cNvPicPr>
            <a:picLocks noChangeAspect="1"/>
          </p:cNvPicPr>
          <p:nvPr/>
        </p:nvPicPr>
        <p:blipFill>
          <a:blip r:embed="rId1"/>
          <a:srcRect l="5116" t="13557" r="4582" b="18750"/>
          <a:stretch>
            <a:fillRect/>
          </a:stretch>
        </p:blipFill>
        <p:spPr>
          <a:xfrm>
            <a:off x="13672185" y="7060565"/>
            <a:ext cx="821055" cy="9474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784" y="588526"/>
            <a:ext cx="6881693" cy="5616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020202"/>
                </a:solidFill>
                <a:latin typeface="Times New Roman" panose="02020603050405020304" charset="0"/>
                <a:ea typeface="PT Serif" panose="020A0703040505020204" pitchFamily="34" charset="-122"/>
                <a:cs typeface="Times New Roman" panose="02020603050405020304" charset="0"/>
              </a:rPr>
              <a:t>Data Collection &amp; Dataset Sources</a:t>
            </a:r>
            <a:endParaRPr lang="en-US" sz="3500" dirty="0">
              <a:solidFill>
                <a:srgbClr val="020202"/>
              </a:solidFill>
              <a:latin typeface="Times New Roman" panose="02020603050405020304" charset="0"/>
              <a:ea typeface="PT Serif" panose="020A0703040505020204" pitchFamily="34" charset="-122"/>
              <a:cs typeface="Times New Roman" panose="0202060305040502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48784" y="1235631"/>
            <a:ext cx="4489847" cy="3509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20202"/>
                </a:solidFill>
                <a:latin typeface="Times New Roman" panose="02020603050405020304" charset="0"/>
                <a:ea typeface="PT Serif" panose="020A0703040505020204" pitchFamily="34" charset="-122"/>
                <a:cs typeface="Times New Roman" panose="02020603050405020304" charset="0"/>
              </a:rPr>
              <a:t>Data Used for Timetable Generation</a:t>
            </a:r>
            <a:endParaRPr lang="en-US" sz="2200" dirty="0">
              <a:solidFill>
                <a:srgbClr val="020202"/>
              </a:solidFill>
              <a:latin typeface="Times New Roman" panose="02020603050405020304" charset="0"/>
              <a:ea typeface="PT Serif" panose="020A0703040505020204" pitchFamily="34" charset="-122"/>
              <a:cs typeface="Times New Roman" panose="020206030504050203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48784" y="2121337"/>
            <a:ext cx="3369707" cy="4211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20202"/>
                </a:solidFill>
                <a:latin typeface="Times New Roman" panose="02020603050405020304" charset="0"/>
                <a:ea typeface="PT Serif" panose="020A0703040505020204" pitchFamily="34" charset="-122"/>
                <a:cs typeface="Times New Roman" panose="02020603050405020304" charset="0"/>
              </a:rPr>
              <a:t>Faculty Data</a:t>
            </a:r>
            <a:endParaRPr lang="en-US" sz="2650" dirty="0">
              <a:solidFill>
                <a:srgbClr val="020202"/>
              </a:solidFill>
              <a:latin typeface="Times New Roman" panose="02020603050405020304" charset="0"/>
              <a:ea typeface="PT Serif" panose="020A0703040505020204" pitchFamily="34" charset="-122"/>
              <a:cs typeface="Times New Roman" panose="020206030504050203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48784" y="2756297"/>
            <a:ext cx="6305431" cy="342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Faculty ID, subject expertise, availability</a:t>
            </a:r>
            <a:endParaRPr lang="en-US" sz="165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48784" y="3173373"/>
            <a:ext cx="6305431" cy="342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Teaching load limits</a:t>
            </a:r>
            <a:endParaRPr lang="en-US" sz="165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8784" y="3590449"/>
            <a:ext cx="6305431" cy="342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Average leave frequency</a:t>
            </a:r>
            <a:endParaRPr lang="en-US" sz="165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8784" y="4146590"/>
            <a:ext cx="3369707" cy="4211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20202"/>
                </a:solidFill>
                <a:latin typeface="Times New Roman" panose="02020603050405020304" charset="0"/>
                <a:ea typeface="PT Serif" panose="020A0703040505020204" pitchFamily="34" charset="-122"/>
                <a:cs typeface="Times New Roman" panose="02020603050405020304" charset="0"/>
              </a:rPr>
              <a:t>Academic Data</a:t>
            </a:r>
            <a:endParaRPr lang="en-US" sz="2650" dirty="0">
              <a:solidFill>
                <a:srgbClr val="020202"/>
              </a:solidFill>
              <a:latin typeface="Times New Roman" panose="02020603050405020304" charset="0"/>
              <a:ea typeface="PT Serif" panose="020A0703040505020204" pitchFamily="34" charset="-122"/>
              <a:cs typeface="Times New Roman" panose="0202060305040502030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8784" y="4781550"/>
            <a:ext cx="6305431" cy="342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Subjects per semester</a:t>
            </a:r>
            <a:endParaRPr lang="en-US" sz="165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8784" y="5198626"/>
            <a:ext cx="6305431" cy="342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Classes per week/day per subject</a:t>
            </a:r>
            <a:endParaRPr lang="en-US" sz="165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48784" y="5615702"/>
            <a:ext cx="6305431" cy="342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Fixed-slot subjects (labs, electives)</a:t>
            </a:r>
            <a:endParaRPr lang="en-US" sz="165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48784" y="6171843"/>
            <a:ext cx="3369707" cy="4211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20202"/>
                </a:solidFill>
                <a:latin typeface="Times New Roman" panose="02020603050405020304" charset="0"/>
                <a:ea typeface="PT Serif" panose="020A0703040505020204" pitchFamily="34" charset="-122"/>
                <a:cs typeface="Times New Roman" panose="02020603050405020304" charset="0"/>
              </a:rPr>
              <a:t>Student Data</a:t>
            </a:r>
            <a:endParaRPr lang="en-US" sz="2650" dirty="0">
              <a:solidFill>
                <a:srgbClr val="020202"/>
              </a:solidFill>
              <a:latin typeface="Times New Roman" panose="02020603050405020304" charset="0"/>
              <a:ea typeface="PT Serif" panose="020A0703040505020204" pitchFamily="34" charset="-122"/>
              <a:cs typeface="Times New Roman" panose="020206030504050203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48784" y="6806803"/>
            <a:ext cx="6305431" cy="342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Batch details</a:t>
            </a:r>
            <a:endParaRPr lang="en-US" sz="165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48784" y="7223879"/>
            <a:ext cx="6305431" cy="342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Semester and department</a:t>
            </a:r>
            <a:endParaRPr lang="en-US" sz="165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583805" y="2121337"/>
            <a:ext cx="3369707" cy="4211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20202"/>
                </a:solidFill>
                <a:latin typeface="Times New Roman" panose="02020603050405020304" charset="0"/>
                <a:ea typeface="PT Serif" panose="020A0703040505020204" pitchFamily="34" charset="-122"/>
                <a:cs typeface="Times New Roman" panose="02020603050405020304" charset="0"/>
              </a:rPr>
              <a:t>Infrastructure Data</a:t>
            </a:r>
            <a:endParaRPr lang="en-US" sz="2650" dirty="0">
              <a:solidFill>
                <a:srgbClr val="020202"/>
              </a:solidFill>
              <a:latin typeface="Times New Roman" panose="02020603050405020304" charset="0"/>
              <a:ea typeface="PT Serif" panose="020A0703040505020204" pitchFamily="34" charset="-122"/>
              <a:cs typeface="Times New Roman" panose="0202060305040502030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583805" y="2756297"/>
            <a:ext cx="6305431" cy="342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Number of classrooms and laboratories</a:t>
            </a:r>
            <a:endParaRPr lang="en-US" sz="16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583805" y="3173373"/>
            <a:ext cx="6305431" cy="342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Room capacity</a:t>
            </a:r>
            <a:endParaRPr lang="en-US" sz="165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583805" y="3729514"/>
            <a:ext cx="3369707" cy="4211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20202"/>
                </a:solidFill>
                <a:latin typeface="Times New Roman" panose="02020603050405020304" charset="0"/>
                <a:ea typeface="PT Serif" panose="020A0703040505020204" pitchFamily="34" charset="-122"/>
                <a:cs typeface="Times New Roman" panose="02020603050405020304" charset="0"/>
              </a:rPr>
              <a:t>Administrative Inputs</a:t>
            </a:r>
            <a:endParaRPr lang="en-US" sz="2650" dirty="0">
              <a:solidFill>
                <a:srgbClr val="020202"/>
              </a:solidFill>
              <a:latin typeface="Times New Roman" panose="02020603050405020304" charset="0"/>
              <a:ea typeface="PT Serif" panose="020A0703040505020204" pitchFamily="34" charset="-122"/>
              <a:cs typeface="Times New Roman" panose="0202060305040502030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583805" y="4364474"/>
            <a:ext cx="6305431" cy="342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Maximum classes per day</a:t>
            </a:r>
            <a:endParaRPr lang="en-US" sz="16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583805" y="4781550"/>
            <a:ext cx="6305431" cy="342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Multi-shift scheduling rule</a:t>
            </a:r>
            <a:r>
              <a:rPr lang="en-IN" altLang="en-US" sz="16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s</a:t>
            </a:r>
            <a:endParaRPr lang="en-IN" altLang="en-US" sz="165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583805" y="5337691"/>
            <a:ext cx="3369707" cy="4211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20202"/>
                </a:solidFill>
                <a:latin typeface="Times New Roman" panose="02020603050405020304" charset="0"/>
                <a:ea typeface="PT Serif" panose="020A0703040505020204" pitchFamily="34" charset="-122"/>
                <a:cs typeface="Times New Roman" panose="02020603050405020304" charset="0"/>
              </a:rPr>
              <a:t>Data Sources</a:t>
            </a:r>
            <a:endParaRPr lang="en-US" sz="2650" dirty="0">
              <a:solidFill>
                <a:srgbClr val="020202"/>
              </a:solidFill>
              <a:latin typeface="Times New Roman" panose="02020603050405020304" charset="0"/>
              <a:ea typeface="PT Serif" panose="020A0703040505020204" pitchFamily="34" charset="-122"/>
              <a:cs typeface="Times New Roman" panose="0202060305040502030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583805" y="5972651"/>
            <a:ext cx="6305431" cy="342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College academic records</a:t>
            </a:r>
            <a:endParaRPr lang="en-US" sz="16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583805" y="6389727"/>
            <a:ext cx="6305431" cy="342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Department schedules</a:t>
            </a:r>
            <a:endParaRPr lang="en-US" sz="16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583805" y="6806803"/>
            <a:ext cx="6305431" cy="342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Faculty allocation report</a:t>
            </a:r>
            <a:r>
              <a:rPr lang="en-IN" altLang="en-US" sz="16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s</a:t>
            </a:r>
            <a:endParaRPr lang="en-IN" altLang="en-US" sz="165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583805" y="7223879"/>
            <a:ext cx="6305431" cy="342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IN" altLang="en-US" sz="16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I</a:t>
            </a:r>
            <a:r>
              <a:rPr lang="en-US" sz="165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nstitutional academic policies</a:t>
            </a:r>
            <a:endParaRPr lang="en-US" sz="16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6" name="Picture 25" descr="Gemini_Generated_Image_f90a6f90a6f90a6f"/>
          <p:cNvPicPr>
            <a:picLocks noChangeAspect="1"/>
          </p:cNvPicPr>
          <p:nvPr/>
        </p:nvPicPr>
        <p:blipFill>
          <a:blip r:embed="rId1"/>
          <a:srcRect l="5116" t="13557" r="4582" b="18750"/>
          <a:stretch>
            <a:fillRect/>
          </a:stretch>
        </p:blipFill>
        <p:spPr>
          <a:xfrm>
            <a:off x="13672185" y="7060565"/>
            <a:ext cx="821055" cy="9474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53553" y="483513"/>
            <a:ext cx="4045863" cy="4616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4400" dirty="0">
                <a:solidFill>
                  <a:srgbClr val="020202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References </a:t>
            </a:r>
            <a:r>
              <a:rPr lang="en-IN" altLang="en-US" sz="4400" dirty="0">
                <a:solidFill>
                  <a:srgbClr val="020202"/>
                </a:solidFill>
                <a:latin typeface="PT Serif" panose="020A0703040505020204" pitchFamily="34" charset="0"/>
                <a:ea typeface="PT Serif" panose="020A0703040505020204" pitchFamily="34" charset="-122"/>
                <a:cs typeface="PT Serif" panose="020A0703040505020204" pitchFamily="34" charset="-120"/>
              </a:rPr>
              <a:t>:</a:t>
            </a:r>
            <a:endParaRPr lang="en-IN" altLang="en-US" sz="4400" dirty="0">
              <a:solidFill>
                <a:srgbClr val="020202"/>
              </a:solidFill>
              <a:latin typeface="PT Serif" panose="020A0703040505020204" pitchFamily="34" charset="0"/>
              <a:ea typeface="PT Serif" panose="020A0703040505020204" pitchFamily="34" charset="-122"/>
              <a:cs typeface="PT Serif" panose="020A070304050502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753553" y="1015365"/>
            <a:ext cx="2453283" cy="288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3200" dirty="0">
              <a:solidFill>
                <a:srgbClr val="020202"/>
              </a:solidFill>
              <a:latin typeface="Times New Roman" panose="02020603050405020304" charset="0"/>
              <a:ea typeface="PT Serif" panose="020A0703040505020204" pitchFamily="34" charset="-122"/>
              <a:cs typeface="Times New Roman" panose="0202060305040502030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753870" y="2054860"/>
            <a:ext cx="9458960" cy="21456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algn="l">
              <a:lnSpc>
                <a:spcPts val="2200"/>
              </a:lnSpc>
              <a:buSzPct val="100000"/>
              <a:buFont typeface="+mj-lt"/>
              <a:buNone/>
            </a:pPr>
            <a:r>
              <a:rPr lang="en-IN" altLang="en-US" sz="280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1. </a:t>
            </a:r>
            <a:r>
              <a:rPr lang="en-US" sz="280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Kumar, A. et al., 2023 Proposed AI-assisted models to reduce timetable conflicts in higher education. Focused on workload balance and resource utilization. Published in Volume 12 on intelligent academic systems.</a:t>
            </a:r>
            <a:endParaRPr lang="en-US" sz="280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753553" y="5855018"/>
            <a:ext cx="11123176" cy="56268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Font typeface="+mj-lt"/>
              <a:buAutoNum type="arabicPeriod" startAt="2"/>
            </a:pPr>
            <a:endParaRPr lang="en-US" sz="140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591628" y="6479143"/>
            <a:ext cx="11123176" cy="56268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Font typeface="+mj-lt"/>
              <a:buAutoNum type="arabicPeriod" startAt="3"/>
            </a:pPr>
            <a:endParaRPr lang="en-US" sz="140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16" name="Text 2"/>
          <p:cNvSpPr/>
          <p:nvPr/>
        </p:nvSpPr>
        <p:spPr>
          <a:xfrm>
            <a:off x="1753870" y="3937000"/>
            <a:ext cx="9458960" cy="18014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algn="l">
              <a:lnSpc>
                <a:spcPts val="2200"/>
              </a:lnSpc>
              <a:buSzPct val="100000"/>
              <a:buFont typeface="+mj-lt"/>
              <a:buNone/>
            </a:pPr>
            <a:r>
              <a:rPr lang="en-IN" altLang="en-US" sz="280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  <a:sym typeface="+mn-ea"/>
              </a:rPr>
              <a:t>2. </a:t>
            </a:r>
            <a:r>
              <a:rPr lang="en-US" sz="280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  <a:sym typeface="+mn-ea"/>
              </a:rPr>
              <a:t>Sharma, R., 2024 Explored optimization techniques for </a:t>
            </a:r>
            <a:r>
              <a:rPr lang="en-IN" altLang="en-US" sz="280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  <a:sym typeface="+mn-ea"/>
              </a:rPr>
              <a:t>    </a:t>
            </a:r>
            <a:r>
              <a:rPr lang="en-US" sz="280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  <a:sym typeface="+mn-ea"/>
              </a:rPr>
              <a:t>academic scheduling systems. Compared heuristic and constraint-based approaches. Published in Volume 8 with real-world case studies.</a:t>
            </a:r>
            <a:endParaRPr lang="en-US" sz="280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17" name="Text 2"/>
          <p:cNvSpPr/>
          <p:nvPr/>
        </p:nvSpPr>
        <p:spPr>
          <a:xfrm>
            <a:off x="1753870" y="5855335"/>
            <a:ext cx="9458960" cy="18014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algn="l">
              <a:lnSpc>
                <a:spcPts val="2200"/>
              </a:lnSpc>
              <a:buSzPct val="100000"/>
              <a:buFont typeface="+mj-lt"/>
              <a:buNone/>
            </a:pPr>
            <a:r>
              <a:rPr lang="en-IN" altLang="en-US" sz="280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  <a:sym typeface="+mn-ea"/>
              </a:rPr>
              <a:t>3. </a:t>
            </a:r>
            <a:r>
              <a:rPr lang="en-US" sz="280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  <a:sym typeface="+mn-ea"/>
              </a:rPr>
              <a:t>IEEE Access, 2023 Discussed smart university systems using modern web technologies. Emphasized automation, scalability, and system integration. Provided practical implementation insights.</a:t>
            </a:r>
            <a:endParaRPr lang="en-US" sz="280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  <a:p>
            <a:pPr indent="0" algn="l">
              <a:lnSpc>
                <a:spcPts val="2200"/>
              </a:lnSpc>
              <a:buSzPct val="100000"/>
              <a:buFont typeface="+mj-lt"/>
              <a:buNone/>
            </a:pPr>
            <a:r>
              <a:rPr lang="en-IN" altLang="en-US" sz="280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 </a:t>
            </a:r>
            <a:endParaRPr lang="en-IN" altLang="en-US" sz="280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pic>
        <p:nvPicPr>
          <p:cNvPr id="18" name="Picture 17" descr="Gemini_Generated_Image_f90a6f90a6f90a6f"/>
          <p:cNvPicPr>
            <a:picLocks noChangeAspect="1"/>
          </p:cNvPicPr>
          <p:nvPr/>
        </p:nvPicPr>
        <p:blipFill>
          <a:blip r:embed="rId1"/>
          <a:srcRect l="5116" t="13557" r="4582" b="18750"/>
          <a:stretch>
            <a:fillRect/>
          </a:stretch>
        </p:blipFill>
        <p:spPr>
          <a:xfrm>
            <a:off x="13672185" y="7060565"/>
            <a:ext cx="821055" cy="9474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2"/>
          <p:cNvSpPr/>
          <p:nvPr/>
        </p:nvSpPr>
        <p:spPr>
          <a:xfrm>
            <a:off x="1753870" y="1567815"/>
            <a:ext cx="9458960" cy="21456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algn="l">
              <a:lnSpc>
                <a:spcPts val="2200"/>
              </a:lnSpc>
              <a:buSzPct val="100000"/>
              <a:buFont typeface="+mj-lt"/>
              <a:buNone/>
            </a:pPr>
            <a:r>
              <a:rPr lang="en-IN" altLang="en-US" sz="280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4. </a:t>
            </a:r>
            <a:r>
              <a:rPr lang="en-US" sz="280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  <a:sym typeface="+mn-ea"/>
              </a:rPr>
              <a:t>Singh, P., 2024 Introduced constraint-based timetabling models for multi-department institutions. Focused on handling hard and soft constraints. Published in Volume 15 of scheduling research.</a:t>
            </a:r>
            <a:endParaRPr lang="en-US" sz="280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  <a:p>
            <a:pPr indent="0" algn="l">
              <a:lnSpc>
                <a:spcPts val="2200"/>
              </a:lnSpc>
              <a:buSzPct val="100000"/>
              <a:buFont typeface="+mj-lt"/>
              <a:buNone/>
            </a:pPr>
            <a:endParaRPr lang="en-US" sz="280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16" name="Text 2"/>
          <p:cNvSpPr/>
          <p:nvPr/>
        </p:nvSpPr>
        <p:spPr>
          <a:xfrm>
            <a:off x="1753870" y="3449955"/>
            <a:ext cx="9458960" cy="18014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algn="l">
              <a:lnSpc>
                <a:spcPts val="2200"/>
              </a:lnSpc>
              <a:buSzPct val="100000"/>
              <a:buFont typeface="+mj-lt"/>
              <a:buNone/>
            </a:pPr>
            <a:r>
              <a:rPr lang="en-IN" altLang="en-US" sz="280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  <a:sym typeface="+mn-ea"/>
              </a:rPr>
              <a:t>5. </a:t>
            </a:r>
            <a:r>
              <a:rPr lang="en-US" sz="280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  <a:sym typeface="+mn-ea"/>
              </a:rPr>
              <a:t>Elsevier Journal, 2025 Analyzed digital transformation trends in education systems. Highlighted automation in academic planning. Focused on efficiency and scalability.</a:t>
            </a:r>
            <a:endParaRPr lang="en-US" sz="280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  <a:p>
            <a:pPr indent="0" algn="l">
              <a:lnSpc>
                <a:spcPts val="2200"/>
              </a:lnSpc>
              <a:buSzPct val="100000"/>
              <a:buFont typeface="+mj-lt"/>
              <a:buNone/>
            </a:pPr>
            <a:endParaRPr lang="en-US" sz="280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17" name="Text 2"/>
          <p:cNvSpPr/>
          <p:nvPr/>
        </p:nvSpPr>
        <p:spPr>
          <a:xfrm>
            <a:off x="1753870" y="5368290"/>
            <a:ext cx="9458960" cy="18014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algn="l">
              <a:lnSpc>
                <a:spcPts val="2200"/>
              </a:lnSpc>
              <a:buSzPct val="100000"/>
              <a:buFont typeface="+mj-lt"/>
              <a:buNone/>
            </a:pPr>
            <a:r>
              <a:rPr lang="en-IN" altLang="en-US" sz="280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  <a:sym typeface="+mn-ea"/>
              </a:rPr>
              <a:t>6. </a:t>
            </a:r>
            <a:r>
              <a:rPr lang="en-US" sz="280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  <a:sym typeface="+mn-ea"/>
              </a:rPr>
              <a:t>Springer, 2023 Presented automated academic scheduling frameworks. Explained rule-based and optimization-driven models. Widely referenced in education system design.</a:t>
            </a:r>
            <a:endParaRPr lang="en-US" sz="280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  <a:p>
            <a:pPr indent="0" algn="l">
              <a:lnSpc>
                <a:spcPts val="2200"/>
              </a:lnSpc>
              <a:buSzPct val="100000"/>
              <a:buFont typeface="+mj-lt"/>
              <a:buNone/>
            </a:pPr>
            <a:endParaRPr lang="en-US" sz="280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  <a:p>
            <a:pPr indent="0" algn="l">
              <a:lnSpc>
                <a:spcPts val="2200"/>
              </a:lnSpc>
              <a:buSzPct val="100000"/>
              <a:buFont typeface="+mj-lt"/>
              <a:buNone/>
            </a:pPr>
            <a:endParaRPr lang="en-US" sz="280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  <a:p>
            <a:pPr indent="0" algn="l">
              <a:lnSpc>
                <a:spcPts val="2200"/>
              </a:lnSpc>
              <a:buSzPct val="100000"/>
              <a:buFont typeface="+mj-lt"/>
              <a:buNone/>
            </a:pPr>
            <a:r>
              <a:rPr lang="en-IN" altLang="en-US" sz="280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 </a:t>
            </a:r>
            <a:endParaRPr lang="en-IN" altLang="en-US" sz="280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pic>
        <p:nvPicPr>
          <p:cNvPr id="5" name="Picture 4" descr="Gemini_Generated_Image_f90a6f90a6f90a6f"/>
          <p:cNvPicPr>
            <a:picLocks noChangeAspect="1"/>
          </p:cNvPicPr>
          <p:nvPr/>
        </p:nvPicPr>
        <p:blipFill>
          <a:blip r:embed="rId1"/>
          <a:srcRect l="5116" t="13557" r="4582" b="18750"/>
          <a:stretch>
            <a:fillRect/>
          </a:stretch>
        </p:blipFill>
        <p:spPr>
          <a:xfrm>
            <a:off x="13672185" y="7060565"/>
            <a:ext cx="821055" cy="9474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2"/>
          <p:cNvSpPr/>
          <p:nvPr/>
        </p:nvSpPr>
        <p:spPr>
          <a:xfrm>
            <a:off x="1753870" y="821690"/>
            <a:ext cx="9458960" cy="21456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algn="l">
              <a:lnSpc>
                <a:spcPts val="2200"/>
              </a:lnSpc>
              <a:buSzPct val="100000"/>
              <a:buFont typeface="+mj-lt"/>
              <a:buNone/>
            </a:pPr>
            <a:r>
              <a:rPr lang="en-IN" altLang="en-US" sz="280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  <a:sym typeface="+mn-ea"/>
              </a:rPr>
              <a:t>7. </a:t>
            </a:r>
            <a:r>
              <a:rPr lang="en-US" sz="280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  <a:sym typeface="+mn-ea"/>
              </a:rPr>
              <a:t>Verma, N., 2024 Examined NEP 2020 impacts on curriculum flexibility. Discussed scheduling challenges in multidisciplinary programs. Published in Volume 6 on education policy studies.</a:t>
            </a:r>
            <a:endParaRPr lang="en-US" sz="280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  <a:p>
            <a:pPr indent="0" algn="l">
              <a:lnSpc>
                <a:spcPts val="2200"/>
              </a:lnSpc>
              <a:buSzPct val="100000"/>
              <a:buFont typeface="+mj-lt"/>
              <a:buNone/>
            </a:pPr>
            <a:endParaRPr lang="en-US" sz="280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16" name="Text 2"/>
          <p:cNvSpPr/>
          <p:nvPr/>
        </p:nvSpPr>
        <p:spPr>
          <a:xfrm>
            <a:off x="1753870" y="2703830"/>
            <a:ext cx="9458960" cy="18014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algn="l">
              <a:lnSpc>
                <a:spcPts val="2200"/>
              </a:lnSpc>
              <a:buSzPct val="100000"/>
              <a:buFont typeface="+mj-lt"/>
              <a:buNone/>
            </a:pPr>
            <a:r>
              <a:rPr lang="en-IN" altLang="en-US" sz="280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  <a:sym typeface="+mn-ea"/>
              </a:rPr>
              <a:t>8. </a:t>
            </a:r>
            <a:r>
              <a:rPr lang="en-US" sz="280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  <a:sym typeface="+mn-ea"/>
              </a:rPr>
              <a:t>ACM Digital Library, 2023 Focused on web-based education management platforms. Highlighted role-based access and system security. Provided architectural design insights</a:t>
            </a:r>
            <a:endParaRPr lang="en-US" sz="280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17" name="Text 2"/>
          <p:cNvSpPr/>
          <p:nvPr/>
        </p:nvSpPr>
        <p:spPr>
          <a:xfrm>
            <a:off x="1753870" y="4622165"/>
            <a:ext cx="9458960" cy="18014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algn="l">
              <a:lnSpc>
                <a:spcPts val="2200"/>
              </a:lnSpc>
              <a:buSzPct val="100000"/>
              <a:buFont typeface="+mj-lt"/>
              <a:buNone/>
            </a:pPr>
            <a:r>
              <a:rPr lang="en-IN" altLang="en-US" sz="280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  <a:sym typeface="+mn-ea"/>
              </a:rPr>
              <a:t>9. </a:t>
            </a:r>
            <a:r>
              <a:rPr lang="en-US" sz="280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  <a:sym typeface="+mn-ea"/>
              </a:rPr>
              <a:t>Taylor &amp; Francis, 2025 Analyzed challenges in multi-department timetable scheduling. Addressed coordination and resource allocation issues. Focused on large institutional environments</a:t>
            </a:r>
            <a:endParaRPr lang="en-US" sz="280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  <a:p>
            <a:pPr indent="0" algn="l">
              <a:lnSpc>
                <a:spcPts val="2200"/>
              </a:lnSpc>
              <a:buSzPct val="100000"/>
              <a:buFont typeface="+mj-lt"/>
              <a:buNone/>
            </a:pPr>
            <a:r>
              <a:rPr lang="en-IN" altLang="en-US" sz="280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 </a:t>
            </a:r>
            <a:endParaRPr lang="en-IN" altLang="en-US" sz="280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sp>
        <p:nvSpPr>
          <p:cNvPr id="3" name="Text 2"/>
          <p:cNvSpPr/>
          <p:nvPr/>
        </p:nvSpPr>
        <p:spPr>
          <a:xfrm>
            <a:off x="1753870" y="6242050"/>
            <a:ext cx="9458960" cy="18014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algn="l">
              <a:lnSpc>
                <a:spcPts val="2200"/>
              </a:lnSpc>
              <a:buSzPct val="100000"/>
              <a:buFont typeface="+mj-lt"/>
              <a:buNone/>
            </a:pPr>
            <a:r>
              <a:rPr lang="en-IN" altLang="en-US" sz="280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  <a:sym typeface="+mn-ea"/>
              </a:rPr>
              <a:t>10. </a:t>
            </a:r>
            <a:r>
              <a:rPr lang="en-US" sz="280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  <a:sym typeface="+mn-ea"/>
              </a:rPr>
              <a:t>IEEE Conference Proceedings, 2024 Discussed smart campus solutions using digital platforms. Highlighted academic and administrative automation. Presented at an international smart education conference.</a:t>
            </a:r>
            <a:endParaRPr lang="en-US" sz="280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  <a:p>
            <a:pPr indent="0" algn="l">
              <a:lnSpc>
                <a:spcPts val="2200"/>
              </a:lnSpc>
              <a:buSzPct val="100000"/>
              <a:buFont typeface="+mj-lt"/>
              <a:buNone/>
            </a:pPr>
            <a:endParaRPr lang="en-US" sz="280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  <a:p>
            <a:pPr indent="0" algn="l">
              <a:lnSpc>
                <a:spcPts val="2200"/>
              </a:lnSpc>
              <a:buSzPct val="100000"/>
              <a:buFont typeface="+mj-lt"/>
              <a:buNone/>
            </a:pPr>
            <a:r>
              <a:rPr lang="en-IN" altLang="en-US" sz="2800" dirty="0">
                <a:solidFill>
                  <a:srgbClr val="383838"/>
                </a:solidFill>
                <a:latin typeface="Times New Roman" panose="02020603050405020304" charset="0"/>
                <a:ea typeface="DM Sans" pitchFamily="34" charset="-122"/>
                <a:cs typeface="Times New Roman" panose="02020603050405020304" charset="0"/>
              </a:rPr>
              <a:t> </a:t>
            </a:r>
            <a:endParaRPr lang="en-IN" altLang="en-US" sz="2800" dirty="0">
              <a:solidFill>
                <a:srgbClr val="383838"/>
              </a:solidFill>
              <a:latin typeface="Times New Roman" panose="02020603050405020304" charset="0"/>
              <a:ea typeface="DM Sans" pitchFamily="34" charset="-122"/>
              <a:cs typeface="Times New Roman" panose="02020603050405020304" charset="0"/>
            </a:endParaRPr>
          </a:p>
        </p:txBody>
      </p:sp>
      <p:pic>
        <p:nvPicPr>
          <p:cNvPr id="5" name="Picture 4" descr="Gemini_Generated_Image_f90a6f90a6f90a6f"/>
          <p:cNvPicPr>
            <a:picLocks noChangeAspect="1"/>
          </p:cNvPicPr>
          <p:nvPr/>
        </p:nvPicPr>
        <p:blipFill>
          <a:blip r:embed="rId1"/>
          <a:srcRect l="5116" t="13557" r="4582" b="18750"/>
          <a:stretch>
            <a:fillRect/>
          </a:stretch>
        </p:blipFill>
        <p:spPr>
          <a:xfrm>
            <a:off x="13672185" y="7060565"/>
            <a:ext cx="821055" cy="9474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4978</Words>
  <Application>WPS Presentation</Application>
  <PresentationFormat/>
  <Paragraphs>198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3" baseType="lpstr">
      <vt:lpstr>Arial</vt:lpstr>
      <vt:lpstr>SimSun</vt:lpstr>
      <vt:lpstr>Wingdings</vt:lpstr>
      <vt:lpstr>Times New Roman</vt:lpstr>
      <vt:lpstr>PT Serif</vt:lpstr>
      <vt:lpstr>DM Sans</vt:lpstr>
      <vt:lpstr>PT Serif</vt:lpstr>
      <vt:lpstr>Segoe Print</vt:lpstr>
      <vt:lpstr>PT Serif</vt:lpstr>
      <vt:lpstr>Microsoft YaHei</vt:lpstr>
      <vt:lpstr>Arial Unicode MS</vt:lpstr>
      <vt:lpstr>Calibri</vt:lpstr>
      <vt:lpstr>PMingLiU-ExtB</vt:lpstr>
      <vt:lpstr>Gear Drives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Manjula Jayaraman</cp:lastModifiedBy>
  <cp:revision>2</cp:revision>
  <dcterms:created xsi:type="dcterms:W3CDTF">2026-04-13T01:05:00Z</dcterms:created>
  <dcterms:modified xsi:type="dcterms:W3CDTF">2026-04-17T03:34:13Z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4B9A640B6E464301B32B469F89B0B156_13</vt:lpwstr>
  </property>
  <property fmtid="{D5CDD505-2E9C-101B-9397-08002B2CF9AE}" pid="3" name="KSOProductBuildVer">
    <vt:lpwstr>1033-12.1.0.25830</vt:lpwstr>
  </property>
</Properties>
</file>